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K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65392"/>
            <a:ext cx="11567160" cy="0"/>
          </a:xfrm>
          <a:prstGeom prst="line">
            <a:avLst/>
          </a:prstGeom>
          <a:noFill/>
          <a:ln w="12700">
            <a:solidFill>
              <a:srgbClr val="1E3A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0196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FA6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ArkScore · Avalanche Fuji · Wavy Node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9144000" y="660196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FA6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LatAm Institucional Hackathon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10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40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E2A6"/>
                </a:solidFill>
              </a:rPr>
              <a:t>ORÁCULO DE CRÉDITO INSTITUCIONAL ON-CHAIN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713232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FF9"/>
                </a:solidFill>
              </a:rPr>
              <a:t>ArkScore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" y="150876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B8FFE6"/>
                </a:solidFill>
              </a:rPr>
              <a:t>Convierte riesgo de wallets en decisiones de crédito auditables para Arkangeles y Bankaool.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58368" y="25146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B8AD"/>
                </a:solidFill>
              </a:rPr>
              <a:t>Wavy Node analiza trazabilidad · ArkScore calcula score 0-100 · Avalanche Fuji guarda la prueba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79476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794760"/>
            <a:ext cx="73152" cy="155448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95935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Demo live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1248" y="4325112"/>
            <a:ext cx="2816352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Frontend Vercel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API Railway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Contrato Fuji verificado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069080" y="379476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9080" y="3794760"/>
            <a:ext cx="73152" cy="1554480"/>
          </a:xfrm>
          <a:prstGeom prst="rect">
            <a:avLst/>
          </a:prstGeom>
          <a:solidFill>
            <a:srgbClr val="55B7FF"/>
          </a:solidFill>
          <a:ln w="12700">
            <a:solidFill>
              <a:srgbClr val="55B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48" y="395935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Prueba on-chain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270248" y="4325112"/>
            <a:ext cx="2816352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subjectHash + evidenceHash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score + decisión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readback verificable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321040" y="1234440"/>
            <a:ext cx="2834640" cy="2834640"/>
          </a:xfrm>
          <a:prstGeom prst="roundRect">
            <a:avLst>
              <a:gd name="adj" fmla="val 5806"/>
            </a:avLst>
          </a:prstGeom>
          <a:solidFill>
            <a:srgbClr val="11241F"/>
          </a:solidFill>
          <a:ln w="17780">
            <a:solidFill>
              <a:srgbClr val="2DE2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49640" y="1691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3FFF9"/>
                </a:solidFill>
              </a:rPr>
              <a:t>742</a:t>
            </a:r>
            <a:endParaRPr lang="en-US" sz="5800" dirty="0"/>
          </a:p>
        </p:txBody>
      </p:sp>
      <p:sp>
        <p:nvSpPr>
          <p:cNvPr id="26" name="Shape 24"/>
          <p:cNvSpPr/>
          <p:nvPr/>
        </p:nvSpPr>
        <p:spPr>
          <a:xfrm>
            <a:off x="8796528" y="2670048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DE2A6">
              <a:alpha val="18000"/>
            </a:srgbClr>
          </a:solidFill>
          <a:ln w="12700">
            <a:solidFill>
              <a:srgbClr val="2DE2A6">
                <a:alpha val="7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06256" y="2761488"/>
            <a:ext cx="6492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FFE6"/>
                </a:solidFill>
              </a:rPr>
              <a:t>APROBAR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802368" y="2670048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55B7FF">
              <a:alpha val="18000"/>
            </a:srgbClr>
          </a:solidFill>
          <a:ln w="12700">
            <a:solidFill>
              <a:srgbClr val="55B7FF">
                <a:alpha val="7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12096" y="2761488"/>
            <a:ext cx="7406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FFE6"/>
                </a:solidFill>
              </a:rPr>
              <a:t>RIESGO BAJO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549640" y="3246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BB8AD"/>
                </a:solidFill>
              </a:rPr>
              <a:t>Decisión institucional verificable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10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40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E2A6"/>
                </a:solidFill>
              </a:rPr>
              <a:t>ARKANGELES + BANKAOOL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713232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FF9"/>
                </a:solidFill>
              </a:rPr>
              <a:t>El problema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40080" y="1508760"/>
            <a:ext cx="3474720" cy="1280160"/>
          </a:xfrm>
          <a:prstGeom prst="roundRect">
            <a:avLst>
              <a:gd name="adj" fmla="val 8571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1508760"/>
            <a:ext cx="73152" cy="1280160"/>
          </a:xfrm>
          <a:prstGeom prst="rect">
            <a:avLst/>
          </a:prstGeom>
          <a:solidFill>
            <a:srgbClr val="FF6B62"/>
          </a:solidFill>
          <a:ln w="12700">
            <a:solidFill>
              <a:srgbClr val="FF6B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67335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Riesgo fragmentado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1248" y="2039112"/>
            <a:ext cx="309067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Wallet risk, compliance y underwriting viven en sistemas separados.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43400" y="1508760"/>
            <a:ext cx="3474720" cy="1280160"/>
          </a:xfrm>
          <a:prstGeom prst="roundRect">
            <a:avLst>
              <a:gd name="adj" fmla="val 8571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43400" y="1508760"/>
            <a:ext cx="73152" cy="1280160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44568" y="167335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Poca evidencia auditable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44568" y="2039112"/>
            <a:ext cx="309067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Las instituciones necesitan probar qué se evaluó, qué riesgo apareció y quién tomó la decisión.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46720" y="1508760"/>
            <a:ext cx="3474720" cy="1280160"/>
          </a:xfrm>
          <a:prstGeom prst="roundRect">
            <a:avLst>
              <a:gd name="adj" fmla="val 8571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0" y="1508760"/>
            <a:ext cx="73152" cy="1280160"/>
          </a:xfrm>
          <a:prstGeom prst="rect">
            <a:avLst/>
          </a:prstGeom>
          <a:solidFill>
            <a:srgbClr val="55B7FF"/>
          </a:solidFill>
          <a:ln w="12700">
            <a:solidFill>
              <a:srgbClr val="55B7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47888" y="167335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Nuevos usuarios cripto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47888" y="2039112"/>
            <a:ext cx="309067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Thin-file y crypto-native customers requieren señales alternativas sin perder compliance.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E2A6"/>
                </a:solidFill>
              </a:rPr>
              <a:t>Necesidad crítica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40690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3FFF9"/>
                </a:solidFill>
              </a:rPr>
              <a:t>Decisiones más rápidas, explicables y auditables para flujos institucionales de crédito e inversión.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10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40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E2A6"/>
                </a:solidFill>
              </a:rPr>
              <a:t>ARKSCORE EN UNA FRASE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713232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FF9"/>
                </a:solidFill>
              </a:rPr>
              <a:t>La solución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" y="1389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FFE6"/>
                </a:solidFill>
              </a:rPr>
              <a:t>De wallet a decisión institucional en 3 pasos.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2148840"/>
            <a:ext cx="3246120" cy="1463040"/>
          </a:xfrm>
          <a:prstGeom prst="roundRect">
            <a:avLst>
              <a:gd name="adj" fmla="val 7500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148840"/>
            <a:ext cx="73152" cy="146304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2313432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1 · Input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2679192"/>
            <a:ext cx="286207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Wallet EVM + contexto institucional: Arkangeles o Bankaool.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80560" y="2148840"/>
            <a:ext cx="3246120" cy="1463040"/>
          </a:xfrm>
          <a:prstGeom prst="roundRect">
            <a:avLst>
              <a:gd name="adj" fmla="val 7500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0560" y="2148840"/>
            <a:ext cx="73152" cy="1463040"/>
          </a:xfrm>
          <a:prstGeom prst="rect">
            <a:avLst/>
          </a:prstGeom>
          <a:solidFill>
            <a:srgbClr val="55B7FF"/>
          </a:solidFill>
          <a:ln w="12700">
            <a:solidFill>
              <a:srgbClr val="55B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1728" y="2313432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2 · Score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681728" y="2679192"/>
            <a:ext cx="286207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Wavy risk + score compuesto ArkScore + bucket de decisión.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75320" y="2148840"/>
            <a:ext cx="3246120" cy="1463040"/>
          </a:xfrm>
          <a:prstGeom prst="roundRect">
            <a:avLst>
              <a:gd name="adj" fmla="val 7500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75320" y="2148840"/>
            <a:ext cx="73152" cy="14630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6488" y="2313432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3 · Proof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76488" y="2679192"/>
            <a:ext cx="286207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subjectHash, evidenceHash y registro verificable en Fuji.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05840" y="45720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A6"/>
                </a:solidFill>
              </a:rPr>
              <a:t>0-100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005840" y="50749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B8AD"/>
                </a:solidFill>
              </a:rPr>
              <a:t>score crediticio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063240" y="45720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B7FF"/>
                </a:solidFill>
              </a:rPr>
              <a:t>Fuji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3063240" y="50749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B8AD"/>
                </a:solidFill>
              </a:rPr>
              <a:t>prueba pública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120640" y="45720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78BFA"/>
                </a:solidFill>
              </a:rPr>
              <a:t>Wavy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5120640" y="50749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B8AD"/>
                </a:solidFill>
              </a:rPr>
              <a:t>trazabilidad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178040" y="45720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B84B"/>
                </a:solidFill>
              </a:rPr>
              <a:t>SaaS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178040" y="50749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B8AD"/>
                </a:solidFill>
              </a:rPr>
              <a:t>por consulta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10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40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E2A6"/>
                </a:solidFill>
              </a:rPr>
              <a:t>LINKS DE ENTREGA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713232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FF9"/>
                </a:solidFill>
              </a:rPr>
              <a:t>Demo live y evidencia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40080" y="1481328"/>
            <a:ext cx="5212080" cy="822960"/>
          </a:xfrm>
          <a:prstGeom prst="roundRect">
            <a:avLst>
              <a:gd name="adj" fmla="val 13333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1481328"/>
            <a:ext cx="73152" cy="82296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6459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Frontend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1248" y="2011680"/>
            <a:ext cx="4828032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https://arkscore-seven.vercel.app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2514600"/>
            <a:ext cx="5212080" cy="960120"/>
          </a:xfrm>
          <a:prstGeom prst="roundRect">
            <a:avLst>
              <a:gd name="adj" fmla="val 1142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2514600"/>
            <a:ext cx="73152" cy="960120"/>
          </a:xfrm>
          <a:prstGeom prst="rect">
            <a:avLst/>
          </a:prstGeom>
          <a:solidFill>
            <a:srgbClr val="55B7FF"/>
          </a:solidFill>
          <a:ln w="12700">
            <a:solidFill>
              <a:srgbClr val="55B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679192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Backend + OpenAPI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" y="3044952"/>
            <a:ext cx="4828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https://arkscore-api-production.up.railway.app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/openapi.json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3703320"/>
            <a:ext cx="5212080" cy="960120"/>
          </a:xfrm>
          <a:prstGeom prst="roundRect">
            <a:avLst>
              <a:gd name="adj" fmla="val 1142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3703320"/>
            <a:ext cx="73152" cy="9601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867912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Fuji CreditScoreRegistry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4233672"/>
            <a:ext cx="4828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0x0e5c...Fd46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Contrato verificado en Snowscan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212080" cy="960120"/>
          </a:xfrm>
          <a:prstGeom prst="roundRect">
            <a:avLst>
              <a:gd name="adj" fmla="val 1142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892040"/>
            <a:ext cx="73152" cy="960120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5056632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Transacción demo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41248" y="5422392"/>
            <a:ext cx="4828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0xed21...608c2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Bloque Fuji 55449102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629400" y="1444752"/>
            <a:ext cx="4389120" cy="4389120"/>
          </a:xfrm>
          <a:prstGeom prst="roundRect">
            <a:avLst>
              <a:gd name="adj" fmla="val 3750"/>
            </a:avLst>
          </a:prstGeom>
          <a:solidFill>
            <a:srgbClr val="11241F"/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4088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3FFF9"/>
                </a:solidFill>
              </a:rPr>
              <a:t>Resultado demo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40880" y="24871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E2A6"/>
                </a:solidFill>
              </a:rPr>
              <a:t>100/100</a:t>
            </a:r>
            <a:endParaRPr lang="en-US" sz="4400" dirty="0"/>
          </a:p>
        </p:txBody>
      </p:sp>
      <p:sp>
        <p:nvSpPr>
          <p:cNvPr id="33" name="Shape 31"/>
          <p:cNvSpPr/>
          <p:nvPr/>
        </p:nvSpPr>
        <p:spPr>
          <a:xfrm>
            <a:off x="7498080" y="3337560"/>
            <a:ext cx="2651760" cy="329184"/>
          </a:xfrm>
          <a:prstGeom prst="roundRect">
            <a:avLst>
              <a:gd name="adj" fmla="val 22222"/>
            </a:avLst>
          </a:prstGeom>
          <a:solidFill>
            <a:srgbClr val="2DE2A6">
              <a:alpha val="18000"/>
            </a:srgbClr>
          </a:solidFill>
          <a:ln w="12700">
            <a:solidFill>
              <a:srgbClr val="2DE2A6">
                <a:alpha val="7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3429000"/>
            <a:ext cx="24323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FFE6"/>
                </a:solidFill>
              </a:rPr>
              <a:t>APPROVE_BANKAOOL_LOAN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132320" y="40690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Mock Wavy risk 2/100 mientras tracker upstream de Wavy se recupera. El camino API → contrato → readback está probado end-to-end.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10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40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E2A6"/>
                </a:solidFill>
              </a:rPr>
              <a:t>INFRAESTRUCTURA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713232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FF9"/>
                </a:solidFill>
              </a:rPr>
              <a:t>Por qué Avalanche + privacidad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85800" y="1554480"/>
            <a:ext cx="3337560" cy="1417320"/>
          </a:xfrm>
          <a:prstGeom prst="roundRect">
            <a:avLst>
              <a:gd name="adj" fmla="val 7742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1554480"/>
            <a:ext cx="73152" cy="141732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17190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Avalanche Fuji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86968" y="2084832"/>
            <a:ext cx="295351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Capa rápida y de bajo costo para pruebas por consulta de decisiones institucionales.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34840" y="1554480"/>
            <a:ext cx="3337560" cy="1417320"/>
          </a:xfrm>
          <a:prstGeom prst="roundRect">
            <a:avLst>
              <a:gd name="adj" fmla="val 7742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34840" y="1554480"/>
            <a:ext cx="73152" cy="1417320"/>
          </a:xfrm>
          <a:prstGeom prst="rect">
            <a:avLst/>
          </a:prstGeom>
          <a:solidFill>
            <a:srgbClr val="55B7FF"/>
          </a:solidFill>
          <a:ln w="12700">
            <a:solidFill>
              <a:srgbClr val="55B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36008" y="17190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CreditScoreRegistry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636008" y="2084832"/>
            <a:ext cx="295351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Guarda score, decisión, institution, timestamp, submitter, subjectHash y evidenceHash.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83880" y="1554480"/>
            <a:ext cx="3337560" cy="1417320"/>
          </a:xfrm>
          <a:prstGeom prst="roundRect">
            <a:avLst>
              <a:gd name="adj" fmla="val 7742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3880" y="1554480"/>
            <a:ext cx="73152" cy="14173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85048" y="17190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Privacidad por diseño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85048" y="2084832"/>
            <a:ext cx="295351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La wallet raw no se publica: se guarda un subjectHash derivado por backend.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606040" y="3794760"/>
            <a:ext cx="6766560" cy="1417320"/>
          </a:xfrm>
          <a:prstGeom prst="roundRect">
            <a:avLst>
              <a:gd name="adj" fmla="val 7742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06040" y="3794760"/>
            <a:ext cx="73152" cy="1417320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07208" y="3959352"/>
            <a:ext cx="6419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Ruta eERC20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807208" y="4325112"/>
            <a:ext cx="638251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Siguiente capa: notas crediticias o eligibility tokens confidenciales sin revelar detalles sensibles.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10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40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E2A6"/>
                </a:solidFill>
              </a:rPr>
              <a:t>RIESGO + TRAZABILIDAD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713232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FF9"/>
                </a:solidFill>
              </a:rPr>
              <a:t>Integración Wavy Node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5800" y="137160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FFE6"/>
                </a:solidFill>
              </a:rPr>
              <a:t>ArkScore conserva Wavy como fuente de riesgo y evidencia trazable.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31520" y="2148840"/>
            <a:ext cx="3063240" cy="1600200"/>
          </a:xfrm>
          <a:prstGeom prst="roundRect">
            <a:avLst>
              <a:gd name="adj" fmla="val 6857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2148840"/>
            <a:ext cx="73152" cy="160020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2313432"/>
            <a:ext cx="2715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Soportado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2679192"/>
            <a:ext cx="267919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Registro de direcciones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Investigaciones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scan-risk para Avalanche 43114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60520" y="2148840"/>
            <a:ext cx="3063240" cy="1600200"/>
          </a:xfrm>
          <a:prstGeom prst="roundRect">
            <a:avLst>
              <a:gd name="adj" fmla="val 6857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60520" y="2148840"/>
            <a:ext cx="73152" cy="1600200"/>
          </a:xfrm>
          <a:prstGeom prst="rect">
            <a:avLst/>
          </a:prstGeom>
          <a:solidFill>
            <a:srgbClr val="55B7FF"/>
          </a:solidFill>
          <a:ln w="12700">
            <a:solidFill>
              <a:srgbClr val="55B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61688" y="2313432"/>
            <a:ext cx="2715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Respuesta API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61688" y="2679192"/>
            <a:ext cx="267919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provider, network, scan type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risk scale, tx count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patterns, analysis id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589520" y="2148840"/>
            <a:ext cx="3063240" cy="1600200"/>
          </a:xfrm>
          <a:prstGeom prst="roundRect">
            <a:avLst>
              <a:gd name="adj" fmla="val 6857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2148840"/>
            <a:ext cx="73152" cy="16002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90688" y="2313432"/>
            <a:ext cx="2715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Prueba Fuji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790688" y="2679192"/>
            <a:ext cx="267919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Wavy evidence hash + analysis id quedan ligados a la decisión institucional.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463040" y="4709160"/>
            <a:ext cx="9052560" cy="685800"/>
          </a:xfrm>
          <a:prstGeom prst="roundRect">
            <a:avLst>
              <a:gd name="adj" fmla="val 16000"/>
            </a:avLst>
          </a:prstGeom>
          <a:solidFill>
            <a:srgbClr val="2B2111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7360" y="491947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7AC"/>
                </a:solidFill>
              </a:rPr>
              <a:t>Transparencia: la prueba enviada está marcada como mock porque Wavy upstream respondió tracker-service::analyze: fetch failed.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10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40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E2A6"/>
                </a:solidFill>
              </a:rPr>
              <a:t>PER-QUERY SAAS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713232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FF9"/>
                </a:solidFill>
              </a:rPr>
              <a:t>Modelo de negocio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85800" y="1508760"/>
            <a:ext cx="5074920" cy="1234440"/>
          </a:xfrm>
          <a:prstGeom prst="roundRect">
            <a:avLst>
              <a:gd name="adj" fmla="val 888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1508760"/>
            <a:ext cx="73152" cy="123444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1673352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Compradores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86968" y="2039112"/>
            <a:ext cx="46908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Crowdfunding, bancos digitales, lending desks, emisores de activos tokenizados y equipos compliance.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1508760"/>
            <a:ext cx="5074920" cy="1234440"/>
          </a:xfrm>
          <a:prstGeom prst="roundRect">
            <a:avLst>
              <a:gd name="adj" fmla="val 888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1508760"/>
            <a:ext cx="73152" cy="1234440"/>
          </a:xfrm>
          <a:prstGeom prst="rect">
            <a:avLst/>
          </a:prstGeom>
          <a:solidFill>
            <a:srgbClr val="55B7FF"/>
          </a:solidFill>
          <a:ln w="12700">
            <a:solidFill>
              <a:srgbClr val="55B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1673352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Pricing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01968" y="2039112"/>
            <a:ext cx="46908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Pago por wallet score, por prueba on-chain y planes enterprise para thresholds/reportes.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3246120"/>
            <a:ext cx="5074920" cy="1234440"/>
          </a:xfrm>
          <a:prstGeom prst="roundRect">
            <a:avLst>
              <a:gd name="adj" fmla="val 888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246120"/>
            <a:ext cx="73152" cy="1234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" y="3410712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Expansión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86968" y="3776472"/>
            <a:ext cx="46908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Monitoreo recurrente, webhooks, batch scoring, reglas por institución y tokens privados eERC20.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3246120"/>
            <a:ext cx="5074920" cy="1234440"/>
          </a:xfrm>
          <a:prstGeom prst="roundRect">
            <a:avLst>
              <a:gd name="adj" fmla="val 8889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0" y="3246120"/>
            <a:ext cx="73152" cy="1234440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01968" y="3410712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Por qué ahora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601968" y="3776472"/>
            <a:ext cx="46908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BB8AD"/>
                </a:solidFill>
              </a:rPr>
              <a:t>LatAm fintech necesita underwriting crypto-aware con audit trail de nivel institucional.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F"/>
          </a:solidFill>
          <a:ln w="12700">
            <a:solidFill>
              <a:srgbClr val="0711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175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104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0" y="502920"/>
            <a:ext cx="0" cy="5623560"/>
          </a:xfrm>
          <a:prstGeom prst="line">
            <a:avLst/>
          </a:prstGeom>
          <a:noFill/>
          <a:ln w="5080">
            <a:solidFill>
              <a:srgbClr val="0D2722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840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E2A6"/>
                </a:solidFill>
              </a:rPr>
              <a:t>LISTO PARA ENTREGA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713232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FF9"/>
                </a:solidFill>
              </a:rPr>
              <a:t>Estado y próximos pasos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85800" y="141732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1417320"/>
            <a:ext cx="73152" cy="1828800"/>
          </a:xfrm>
          <a:prstGeom prst="rect">
            <a:avLst/>
          </a:prstGeom>
          <a:solidFill>
            <a:srgbClr val="2DE2A6"/>
          </a:solidFill>
          <a:ln w="12700">
            <a:solidFill>
              <a:srgbClr val="2DE2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1581912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Shipped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86968" y="1947672"/>
            <a:ext cx="3044952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Frontend Vercel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API Railway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Contrato Fuji verificado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README para jueces en español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141732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1417320"/>
            <a:ext cx="73152" cy="1828800"/>
          </a:xfrm>
          <a:prstGeom prst="rect">
            <a:avLst/>
          </a:prstGeom>
          <a:solidFill>
            <a:srgbClr val="55B7FF"/>
          </a:solidFill>
          <a:ln w="12700">
            <a:solidFill>
              <a:srgbClr val="55B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0288" y="1581912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Siguiente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90288" y="1947672"/>
            <a:ext cx="3044952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Reactivar Wavy live cuando tracker-service se recupere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Correr record:fuji con score Wavy live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92440" y="141732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0D1B18">
              <a:alpha val="96000"/>
            </a:srgbClr>
          </a:solidFill>
          <a:ln w="12700">
            <a:solidFill>
              <a:srgbClr val="2444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1417320"/>
            <a:ext cx="73152" cy="18288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93608" y="1581912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3FFF9"/>
                </a:solidFill>
              </a:rPr>
              <a:t>Pilotos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93608" y="1947672"/>
            <a:ext cx="3044952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150" dirty="0">
                <a:solidFill>
                  <a:srgbClr val="9BB8AD"/>
                </a:solidFill>
              </a:rPr>
              <a:t>Arkangeles IFC screening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Bankaool underwriting</a:t>
            </a:r>
            <a:endParaRPr lang="en-US" sz="1150" dirty="0"/>
          </a:p>
          <a:p>
            <a:r>
              <a:rPr lang="en-US" sz="1150" dirty="0">
                <a:solidFill>
                  <a:srgbClr val="9BB8AD"/>
                </a:solidFill>
              </a:rPr>
              <a:t>Configuración de thresholds por institución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77240" y="431596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E2A6"/>
                </a:solidFill>
              </a:rPr>
              <a:t>Ask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77240" y="475488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3FFF9"/>
                </a:solidFill>
              </a:rPr>
              <a:t>Validar ArkScore como rail institucional de scoring por consulta para crédito, inversión y compliance en LatAm.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836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A69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ArkScore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ArkScore Pitch Deck</dc:title>
  <dc:subject>ArkScore LatAm Institucional Hackathon</dc:subject>
  <dc:creator>ArkScore</dc:creator>
  <cp:lastModifiedBy>ArkScore</cp:lastModifiedBy>
  <cp:revision>1</cp:revision>
  <dcterms:created xsi:type="dcterms:W3CDTF">2026-05-17T14:02:08Z</dcterms:created>
  <dcterms:modified xsi:type="dcterms:W3CDTF">2026-05-17T14:02:08Z</dcterms:modified>
</cp:coreProperties>
</file>